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uBaw3VjC0oXWv3tV9aQBdSX7E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F76EED-D7BC-4CD3-9F62-F3842DF4A02C}">
  <a:tblStyle styleId="{57F76EED-D7BC-4CD3-9F62-F3842DF4A0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Error Metrics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RMSLE</c:v>
                  </c:pt>
                  <c:pt idx="1">
                    <c:v>CRPS</c:v>
                  </c:pt>
                  <c:pt idx="2">
                    <c:v>MSE (÷100)</c:v>
                  </c:pt>
                  <c:pt idx="3">
                    <c:v>MSLE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0.648</c:v>
                </c:pt>
                <c:pt idx="1">
                  <c:v>9.195</c:v>
                </c:pt>
                <c:pt idx="2">
                  <c:v>42.19</c:v>
                </c:pt>
                <c:pt idx="3">
                  <c:v>0.42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Twitter-Enhanced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RMSLE</c:v>
                  </c:pt>
                  <c:pt idx="1">
                    <c:v>CRPS</c:v>
                  </c:pt>
                  <c:pt idx="2">
                    <c:v>MSE (÷100)</c:v>
                  </c:pt>
                  <c:pt idx="3">
                    <c:v>MSLE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</c:v>
                </c:pt>
                <c:pt idx="1">
                  <c:v>9.614</c:v>
                </c:pt>
                <c:pt idx="2">
                  <c:v>46.43</c:v>
                </c:pt>
                <c:pt idx="3">
                  <c:v>0.462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Error Metrics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RMSLE</c:v>
                  </c:pt>
                  <c:pt idx="1">
                    <c:v>CRPS</c:v>
                  </c:pt>
                  <c:pt idx="2">
                    <c:v>MSE</c:v>
                  </c:pt>
                  <c:pt idx="3">
                    <c:v>MSLE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0.636</c:v>
                </c:pt>
                <c:pt idx="1">
                  <c:v>3.54</c:v>
                </c:pt>
                <c:pt idx="2">
                  <c:v>80.52</c:v>
                </c:pt>
                <c:pt idx="3">
                  <c:v>0.405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Twitter-Enhanced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RMSLE</c:v>
                  </c:pt>
                  <c:pt idx="1">
                    <c:v>CRPS</c:v>
                  </c:pt>
                  <c:pt idx="2">
                    <c:v>MSE</c:v>
                  </c:pt>
                  <c:pt idx="3">
                    <c:v>MSLE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0.63</c:v>
                </c:pt>
                <c:pt idx="1">
                  <c:v>3.168</c:v>
                </c:pt>
                <c:pt idx="2">
                  <c:v>61.46</c:v>
                </c:pt>
                <c:pt idx="3">
                  <c:v>0.397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2c1a508b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e2c1a508b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" name="Google Shape;26;g3e2c1a508b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2c37ba9bf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2c37ba9bf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e2c37ba9bf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2c37ba9bf_2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2c37ba9bf_2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e2c37ba9bf_2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combined two data sources. ViEWS gives us the structural stuff — conflict history, GDP, political stability.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Reliable, but slow to update.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second is the CUT dataset: 4,300 tweets from 2014 to 2019, each labeled as unrest-related or not. From those we engineered four tweet-based features. The question we're testing is — does adding the social signal in ingr 2 make the model better?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"This is multiple linear regression. Beta zero is just the baseline — conflict level before any predictors kick in. Betas one through four are the weights for your structural variables: conflict history, GDP, stability, population. The model learns those from training data.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Betas five and six are the Twitter weights — the new addition. If beta five is positive, more unrest tweets that month predicts more conflict.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The baseline model uses betas one through four. The Twitter model adds five and six. Everything else is identical.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How do we know if a model is actually good? We measure its mistakes.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Think of darts. Each prediction is a throw, the bullseye is what really happened. RSS adds up all the misses, squared — so a really bad prediction hurts way more than a small one.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MSE is just that total divided by the number of predictions. One clean number we can compare across models. Lower means more accurate.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So when we say the Twitter model cut MSE by 24% for the Gen-Z subset — it just means those predictions got a lot closer to reality.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"Both models trained on the same data, 2014 to 2018. Both tested on 2018 to 2019 — data they'd never seen.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Model A is the baseline: conflict history, GDP, political stability, population. Model B is exactly the same, plus the four Twitter features.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Everything else is identical. So whatever difference shows up in the results, it can only be Twitter.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14057500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e14057500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3e14057500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2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Does Social Media Improve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93C5FD"/>
                </a:solidFill>
                <a:latin typeface="Trebuchet MS"/>
                <a:ea typeface="Trebuchet MS"/>
                <a:cs typeface="Trebuchet MS"/>
                <a:sym typeface="Trebuchet MS"/>
              </a:rPr>
              <a:t>Conflict Forecasting?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1" lang="en-US" sz="2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Statistical Learning Analysis Using ViEWS + Twitter Data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9718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My  ·  Haniya  ·  Summer  ·  Binayak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MATH 420 · Augustana College · Spring 2025–26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C30"/>
          </a:solidFill>
          <a:ln cap="flat" cmpd="sng" w="12700">
            <a:solidFill>
              <a:srgbClr val="0F1C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g3e2c1a508b4_0_0" title="Screenshot 2026-05-17 16550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0650"/>
            <a:ext cx="8839200" cy="393733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g3e2c1a508b4_0_0"/>
          <p:cNvSpPr txBox="1"/>
          <p:nvPr/>
        </p:nvSpPr>
        <p:spPr>
          <a:xfrm>
            <a:off x="152400" y="4337925"/>
            <a:ext cx="8607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VIEWS’s platform, the predicted probability of state-based armed conflict in Nepal in 2025 is around 0.6%. However, we know that Nepal had a very violent protest with a dozen killed in 2025.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We'll Cover Today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20040" y="1078992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4632" y="1335024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4632" y="13350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" y="1261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51560" y="159105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are we trying to predict?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0040" y="2313432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4632" y="2569464"/>
            <a:ext cx="438912" cy="438912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4632" y="25694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51560" y="24963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Data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51560" y="2825421"/>
            <a:ext cx="320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Where does our information come from?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0040" y="3547872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84632" y="3803904"/>
            <a:ext cx="438912" cy="43891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84632" y="380390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51560" y="37307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Math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51560" y="405993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Formulas from MATH 420 we actually use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800600" y="1078992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965192" y="1335024"/>
            <a:ext cx="438912" cy="438912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965192" y="133502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532120" y="1261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Experiment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532120" y="159105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Baseline vs. Twitter model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800600" y="2313432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965192" y="2569464"/>
            <a:ext cx="438912" cy="438912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965192" y="25694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532120" y="24963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Results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532120" y="282549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Did Twitter help or hurt?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800600" y="3547872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965192" y="3803904"/>
            <a:ext cx="438912" cy="438912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965192" y="380390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532120" y="37307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Trebuchet MS"/>
              <a:buNone/>
            </a:pPr>
            <a:r>
              <a:rPr b="1" i="0" lang="en-US" sz="2300" u="none" cap="none" strike="noStrike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The Takeaway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532120" y="4059936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2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it all means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Problem: Can We Predict Political Conflict?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Stop 01 — 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74320" y="1051560"/>
            <a:ext cx="4160520" cy="3749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57200" y="1188720"/>
            <a:ext cx="54864" cy="2560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66928" y="11887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What is conflict forecasting?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1481328"/>
            <a:ext cx="3749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Governments and researchers want to know: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is armed violence likely to happen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When might a crisis escalate?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Which countries need early intervention?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3474720"/>
            <a:ext cx="54864" cy="256032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66928" y="34747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Traditional approach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3730752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Systems like ViEWS use slow-moving data: GDP, past conflict, political stability — things measured yearly.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709160" y="1051560"/>
            <a:ext cx="4160520" cy="374904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892040" y="1188720"/>
            <a:ext cx="54864" cy="2560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001768" y="11887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Our question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892040" y="148132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Trebuchet MS"/>
              <a:buNone/>
            </a:pPr>
            <a:r>
              <a:rPr b="1" i="0" lang="en-US" sz="19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Can TWITTER speed things up?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892040" y="1993392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Social media updates in real time. People tweet about protests, grievances, and unrest BEFORE official statistics catch up.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892040" y="3063240"/>
            <a:ext cx="3749040" cy="36576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892040" y="3182112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We add Twitter signals to an existing model and measure: does it predict better or worse?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892040" y="406908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Think of it like adding a new ingredient to a recipe — does it improve the dish?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e2c37ba9bf_2_0" title="unrest word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875" y="211125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e2c37ba9bf_2_5" title="unrest_by_ye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025" y="357000"/>
            <a:ext cx="7340375" cy="455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Data: Two Ingredients We Combined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74320" y="1051560"/>
            <a:ext cx="3977640" cy="3749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74320" y="1051560"/>
            <a:ext cx="3977640" cy="5486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11480" y="11704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🌍  INGREDIENT 1: ViEWS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11480" y="1572768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Country-month records going back years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Conflict history (past violence)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GDP and economic indicators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Political stability measures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Population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11480" y="356616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Slow-moving. Reliable. But only updates every few months.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297680" y="22860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2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2563EB"/>
                </a:solidFill>
                <a:latin typeface="Trebuchet MS"/>
                <a:ea typeface="Trebuchet MS"/>
                <a:cs typeface="Trebuchet MS"/>
                <a:sym typeface="Trebuchet MS"/>
              </a:rPr>
              <a:t>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892040" y="1051560"/>
            <a:ext cx="3977640" cy="3749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892040" y="1051560"/>
            <a:ext cx="397764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029200" y="11704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🐦  INGREDIENT 2: Twitter (CUT)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029200" y="1572768"/>
            <a:ext cx="36576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4,381 annotated English tweets (2014–2019)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tweet labeled: unrest-related or not?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Covers protests, strikes, riots, political dissatisfaction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29200" y="3154680"/>
            <a:ext cx="54864" cy="25603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138928" y="31546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4 features we created from tweets: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029200" y="3401568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Count of unrest tweets that month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Count of non-unrest tweets that month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% of tweets that are unrest-related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% of yearly unrest tweets in that month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Core Formula: Our Prediction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Multiple Linear Regression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" y="1417320"/>
            <a:ext cx="8595360" cy="1234440"/>
          </a:xfrm>
          <a:prstGeom prst="rect">
            <a:avLst/>
          </a:prstGeom>
          <a:solidFill>
            <a:srgbClr val="FFFBE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274320" y="1417320"/>
            <a:ext cx="73152" cy="12344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02920" y="1481328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ourier New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Conflict = β₀  +  β₁(Conflict History)  +  β₂(GDP)  +  β₃(Political Stability)</a:t>
            </a: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45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 +  β₄(Population)  +  β₅(Twitter Unrest Count)  +  β₆(Twitter %)  + ε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74325" y="2788925"/>
            <a:ext cx="1965900" cy="192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4320" y="2788920"/>
            <a:ext cx="1965960" cy="457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65765" y="2939298"/>
            <a:ext cx="1828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β₀  (Beta zero)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5765" y="3420491"/>
            <a:ext cx="1828800" cy="11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baseline level of conflict even when all predictors are zero. Like the 'starting point'.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331725" y="2788925"/>
            <a:ext cx="1965900" cy="192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2331720" y="2788920"/>
            <a:ext cx="1965960" cy="45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423165" y="2939298"/>
            <a:ext cx="1828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β₁, β₂, β₃, β₄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2423165" y="3420491"/>
            <a:ext cx="1828800" cy="11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Numbers the model learns. Each β tells us how much conflict changes per 1-unit increase in that predictor.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389126" y="2788925"/>
            <a:ext cx="1965900" cy="192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389120" y="2788920"/>
            <a:ext cx="1965960" cy="4572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480566" y="2939298"/>
            <a:ext cx="18288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β₅, β₆  (Twitter)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480566" y="3420491"/>
            <a:ext cx="1828800" cy="11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new β values for Twitter signals. If positive: more tweets → more conflict predicted.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446526" y="2788925"/>
            <a:ext cx="2560200" cy="192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446520" y="2788920"/>
            <a:ext cx="2560320" cy="457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537966" y="2939298"/>
            <a:ext cx="2423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alibri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ε  (epsilon)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537966" y="3420491"/>
            <a:ext cx="2423100" cy="11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Random error — what the model can't explain. No model is perfect; ε captures the leftover unpredictability.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How Do We Know If the Model Is Good? — RSS &amp; MSE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74325" y="1017574"/>
            <a:ext cx="8595300" cy="16017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57205" y="1152417"/>
            <a:ext cx="82296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🎯  Analogy: Think of darts. Each dart = one prediction. RSS measures how far all your darts landed from the bullseye, combined.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74325" y="2837953"/>
            <a:ext cx="4114800" cy="21573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74325" y="2837953"/>
            <a:ext cx="63900" cy="21573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11485" y="2837953"/>
            <a:ext cx="3931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ourier New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RSS = Σ (actual − predicted)²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11485" y="3959847"/>
            <a:ext cx="3931800" cy="1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► Add up the squared gaps between real conflict levels and model predictions. Squaring means big mistakes hurt a lot more than small 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54877" y="2837953"/>
            <a:ext cx="4114800" cy="21573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754877" y="2837953"/>
            <a:ext cx="63900" cy="21573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892037" y="2837953"/>
            <a:ext cx="39318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ourier New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MSE = RSS ÷ 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892037" y="3959847"/>
            <a:ext cx="3931800" cy="1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► Divide RSS by the number of country-months (n). This gives the average squared error — a single number we use to compare models.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Experiment: Baseline vs. Twitter Model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320040" y="54864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Stop 04 — The Experiment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94360" y="1353312"/>
            <a:ext cx="4937760" cy="2560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94360" y="132588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DATA: 2014 – 2018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623560" y="1353312"/>
            <a:ext cx="2926080" cy="25603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623560" y="13258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TESTING: 2018–2019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94360" y="1069848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← Model learns from this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166360" y="106984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← Judged on this (never seen during training)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274320" y="2121408"/>
            <a:ext cx="4160520" cy="2633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274320" y="2121408"/>
            <a:ext cx="4160520" cy="4572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11480" y="22128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MODEL A — Baseline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11480" y="2606040"/>
            <a:ext cx="37490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Conflict History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GDP / Economic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Political Stability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Char char="•"/>
            </a:pPr>
            <a:r>
              <a:rPr b="1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Twitter features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279392" y="2926080"/>
            <a:ext cx="594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Trebuchet MS"/>
                <a:ea typeface="Trebuchet MS"/>
                <a:cs typeface="Trebuchet MS"/>
                <a:sym typeface="Trebuchet MS"/>
              </a:rPr>
              <a:t>VS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709160" y="2121408"/>
            <a:ext cx="4160520" cy="2633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709160" y="2121408"/>
            <a:ext cx="4160520" cy="45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846320" y="22128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MODEL B — Twitter-Enhanced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846320" y="2606040"/>
            <a:ext cx="37490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Conflict History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GDP / Economic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Political Stability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700"/>
              <a:buFont typeface="Calibri"/>
              <a:buChar char="•"/>
            </a:pPr>
            <a:r>
              <a:rPr b="1" i="0" lang="en-US" sz="17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+ 4 Twitter unrest features   ← NEW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Everything else is IDENTICAL — same data, same time period, same evaluation. Only difference: the Twitter features.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Side-by-Side: What the Numbers Tell 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8" name="Google Shape;198;p13"/>
          <p:cNvGraphicFramePr/>
          <p:nvPr/>
        </p:nvGraphicFramePr>
        <p:xfrm>
          <a:off x="27432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{57F76EED-D7BC-4CD3-9F62-F3842DF4A02C}</a:tableStyleId>
              </a:tblPr>
              <a:tblGrid>
                <a:gridCol w="1371600"/>
                <a:gridCol w="1737350"/>
                <a:gridCol w="1737350"/>
                <a:gridCol w="1737350"/>
              </a:tblGrid>
              <a:tr h="621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(No Twitter)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Twitter Model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(Global)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Twitter Model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(Gen-Z subset)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A34A"/>
                    </a:solidFill>
                  </a:tcPr>
                </a:tc>
              </a:tr>
              <a:tr h="62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RMSLE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(Primary)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0.648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0.680  ↑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0.630  ↓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CRPS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9.195 / 3.540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9.614  ↑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3.168  ↓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4219 / 80.5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4643  ↑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61.5  ↓  (~24%)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MSLE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0.420 / 0.405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0.462  ↑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0.397  ↓</a:t>
                      </a:r>
                      <a:endParaRPr sz="1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13"/>
          <p:cNvSpPr/>
          <p:nvPr/>
        </p:nvSpPr>
        <p:spPr>
          <a:xfrm>
            <a:off x="274320" y="4407408"/>
            <a:ext cx="8595360" cy="658368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Main finding: Twitter is not universally helpful. It helps where online protest discussions closely reflect real-world instability, and hurts where they don't.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Part 1: Global Sample — Twitter Hurts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FEF2F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457200" y="1078992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Trebuchet MS"/>
                <a:ea typeface="Trebuchet MS"/>
                <a:cs typeface="Trebuchet MS"/>
                <a:sym typeface="Trebuchet MS"/>
              </a:rPr>
              <a:t>❌  Globally: Adding Twitter features made predictions WORSE across all 4 metrics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11"/>
          <p:cNvGraphicFramePr/>
          <p:nvPr/>
        </p:nvGraphicFramePr>
        <p:xfrm>
          <a:off x="274325" y="1664200"/>
          <a:ext cx="5118000" cy="33648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11" name="Google Shape;211;p11"/>
          <p:cNvSpPr/>
          <p:nvPr/>
        </p:nvSpPr>
        <p:spPr>
          <a:xfrm>
            <a:off x="5486400" y="1664208"/>
            <a:ext cx="3383400" cy="324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623560" y="17373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Why does this happen?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623560" y="2221970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Twitter activity is uneven — some countries tweet a lot in English, others barely at all.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623598" y="3115139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●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Twitter measures online discussion. The outcome measures actual combat deaths. Not the same thing.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Part 2: Gen-Z Protest Countries — Twitter Helps!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457200" y="1078992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✅  In protest-active countries: Twitter-enhanced model performed BETTER on every metric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12"/>
          <p:cNvGraphicFramePr/>
          <p:nvPr/>
        </p:nvGraphicFramePr>
        <p:xfrm>
          <a:off x="274325" y="1664200"/>
          <a:ext cx="5212200" cy="3426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25" name="Google Shape;225;p12"/>
          <p:cNvSpPr/>
          <p:nvPr/>
        </p:nvSpPr>
        <p:spPr>
          <a:xfrm>
            <a:off x="5486400" y="1664208"/>
            <a:ext cx="338328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623560" y="1719072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~24%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623560" y="23774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drop in MSE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669280" y="2798064"/>
            <a:ext cx="301752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5623560" y="28803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Why does Twitter help here?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623550" y="3200400"/>
            <a:ext cx="3246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Gen-Z protest countries have younger, more online populations who actively tweet about unrest.</a:t>
            </a:r>
            <a:endParaRPr b="0" i="0" sz="15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Online protest discussion here actually reflects real-world mobilization.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All MATH 420 Formulas We Used — Quick Reference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274325" y="1024125"/>
            <a:ext cx="109500" cy="1125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383817" y="1024125"/>
            <a:ext cx="8394300" cy="112560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602802" y="1074158"/>
            <a:ext cx="8029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ourier New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Conflict = β₀ + β₁(History) + β₂(GDP) + ··· + β₅(Twitter) + ε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602802" y="1599505"/>
            <a:ext cx="8029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Our prediction model — Multiple Regression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274325" y="2400034"/>
            <a:ext cx="109500" cy="1125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383817" y="2400034"/>
            <a:ext cx="8394300" cy="112560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602802" y="2450067"/>
            <a:ext cx="8029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ourier New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RSS = Σ(actual − predicted)²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602802" y="2975414"/>
            <a:ext cx="8029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we measure total error. Model minimizes this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274325" y="3775943"/>
            <a:ext cx="109500" cy="11256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383817" y="3775943"/>
            <a:ext cx="8394300" cy="112560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602802" y="3825976"/>
            <a:ext cx="8029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ourier New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ourier New"/>
                <a:ea typeface="Courier New"/>
                <a:cs typeface="Courier New"/>
                <a:sym typeface="Courier New"/>
              </a:rPr>
              <a:t>MSE = RSS ÷ 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602802" y="4351323"/>
            <a:ext cx="80295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Average error per observation — our main comparison metric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Improvement: What Could Be Better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274320" y="105156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411480" y="1307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🗣️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960120" y="119786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English-only tweets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960120" y="15087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Many countries don't tweet in English. We're missing large parts of the world.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74320" y="237744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411480" y="26334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960120" y="252374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Twitter ≠ all social media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960120" y="283464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Facebook, TikTok, and local platforms may be more relevant in many countries.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274320" y="370332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411480" y="3959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960120" y="384962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Tweets measure unrest, not conflict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960120" y="416052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Protests don't always become armed violence. Different outcomes.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4754880" y="105156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4892040" y="13075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5440680" y="119786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Simplified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5440680" y="15087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Our model is inspired by ViEWS but is much simpler than the real system.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4754880" y="237744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4892040" y="26334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5440680" y="252374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Country selection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5440680" y="283464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Gen-Z protest subset was chosen theoretically — needs validation.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4754880" y="3703320"/>
            <a:ext cx="416052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892040" y="39593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5440680" y="384962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5440680" y="416052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 Ridge/Lasso comparison with cross-validated λ would strengthen the math.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Conclusion: What We Learned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274320" y="1051560"/>
            <a:ext cx="859536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384048" y="1188720"/>
            <a:ext cx="548640" cy="54864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384048" y="1188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1078992" y="1188720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i="0" lang="en-US" sz="21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More data ≠ better model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1078992" y="1508760"/>
            <a:ext cx="7589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Adding Twitter features globally HURT performance. Extra predictors add noise if they don't carry real signal.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274320" y="2350008"/>
            <a:ext cx="859536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384048" y="2487168"/>
            <a:ext cx="548640" cy="54864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384048" y="24871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078992" y="2487168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i="0" lang="en-US" sz="21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 matters enormously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1078992" y="2807208"/>
            <a:ext cx="7589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same 4 Twitter features that hurt globally improved MSE by ~24% in Gen-Z protest countries. The data has to be relevant to the problem.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274320" y="3648456"/>
            <a:ext cx="8595360" cy="11704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384048" y="3785616"/>
            <a:ext cx="548640" cy="54864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384048" y="378561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1078992" y="3785616"/>
            <a:ext cx="7589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Trebuchet MS"/>
              <a:buNone/>
            </a:pPr>
            <a:r>
              <a:rPr b="1" i="0" lang="en-US" sz="21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Real-time data is the next frontier in conflict forecasting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1078992" y="4014206"/>
            <a:ext cx="7589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t/>
            </a:r>
            <a:endParaRPr b="0" i="0" sz="19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Traditional models are built on data that updates yearly. Social media updates by the minute.</a:t>
            </a:r>
            <a:endParaRPr b="0" i="0" sz="19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140575001_0_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e140575001_0_0"/>
          <p:cNvSpPr/>
          <p:nvPr/>
        </p:nvSpPr>
        <p:spPr>
          <a:xfrm>
            <a:off x="548640" y="822960"/>
            <a:ext cx="8046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You!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e140575001_0_0"/>
          <p:cNvSpPr/>
          <p:nvPr/>
        </p:nvSpPr>
        <p:spPr>
          <a:xfrm>
            <a:off x="548640" y="183959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  <a:latin typeface="Trebuchet MS"/>
                <a:ea typeface="Trebuchet MS"/>
                <a:cs typeface="Trebuchet MS"/>
                <a:sym typeface="Trebuchet MS"/>
              </a:rPr>
              <a:t>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2026-05-12T04:19:12Z</dcterms:created>
  <dc:creator>PptxGenJS</dc:creator>
</cp:coreProperties>
</file>